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4" d="100"/>
          <a:sy n="64" d="100"/>
        </p:scale>
        <p:origin x="728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487088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2103120"/>
            <a:ext cx="5943600" cy="5943600"/>
          </a:xfrm>
          <a:prstGeom prst="ellipse">
            <a:avLst/>
          </a:prstGeom>
          <a:solidFill>
            <a:srgbClr val="1C2333"/>
          </a:solidFill>
          <a:ln/>
        </p:spPr>
      </p:sp>
      <p:sp>
        <p:nvSpPr>
          <p:cNvPr id="3" name="Shape 1"/>
          <p:cNvSpPr/>
          <p:nvPr/>
        </p:nvSpPr>
        <p:spPr>
          <a:xfrm>
            <a:off x="-2377440" y="4206240"/>
            <a:ext cx="4937760" cy="4937760"/>
          </a:xfrm>
          <a:prstGeom prst="ellipse">
            <a:avLst/>
          </a:prstGeom>
          <a:solidFill>
            <a:srgbClr val="1A2A28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4173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FÍSICA COMPUTACIONAL 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874520"/>
            <a:ext cx="10607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EDEE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Ecuación de Euler–Lagrange</a:t>
            </a:r>
            <a:endParaRPr lang="en-US" sz="4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880360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A7A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Péndulo simple con punto de suspensión sobre la parábola  </a:t>
            </a:r>
            <a:r>
              <a:rPr lang="en-US" sz="2000" i="1" dirty="0">
                <a:solidFill>
                  <a:srgbClr val="8B8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 = αx²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822960" y="3977640"/>
            <a:ext cx="5120640" cy="1874520"/>
          </a:xfrm>
          <a:prstGeom prst="roundRect">
            <a:avLst>
              <a:gd name="adj" fmla="val 4390"/>
            </a:avLst>
          </a:prstGeom>
          <a:solidFill>
            <a:srgbClr val="1B1E29"/>
          </a:solidFill>
          <a:ln w="12700">
            <a:solidFill>
              <a:srgbClr val="2A2E3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97280" y="41605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Primera actividad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1097280" y="4498848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D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Universidad del Tolima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D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Facultad de Ciencias Básicas · Programa de Física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097280" y="52578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7A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Docente: C. A. Morales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172200" y="3977640"/>
            <a:ext cx="5166360" cy="1874520"/>
          </a:xfrm>
          <a:prstGeom prst="roundRect">
            <a:avLst>
              <a:gd name="adj" fmla="val 4390"/>
            </a:avLst>
          </a:prstGeom>
          <a:solidFill>
            <a:srgbClr val="1B1E29"/>
          </a:solidFill>
          <a:ln w="12700">
            <a:solidFill>
              <a:srgbClr val="2A2E3D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46520" y="41605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Desarrollado por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6446520" y="449884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DEEF4"/>
                </a:solidFill>
                <a:latin typeface="Cambria" pitchFamily="34" charset="0"/>
                <a:ea typeface="Cambria" pitchFamily="34" charset="-122"/>
              </a:rPr>
              <a:t>ANDRES CAMILO ROJAS ROA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6446520" y="498348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A7A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Cálculos simbólicos realizados en Wolfram Mathematica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62636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416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PLANTEAMIENTO DEL PROBLEMA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82296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DEE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sistema físico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600200"/>
            <a:ext cx="5943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550" dirty="0">
                <a:solidFill>
                  <a:srgbClr val="ED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punto de suspensión de un péndulo simple de longitud </a:t>
            </a:r>
            <a:r>
              <a:rPr lang="en-US" sz="1550" i="1" dirty="0">
                <a:solidFill>
                  <a:srgbClr val="8B8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</a:t>
            </a:r>
            <a:r>
              <a:rPr lang="en-US" sz="1550" dirty="0">
                <a:solidFill>
                  <a:srgbClr val="ED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 masa </a:t>
            </a:r>
            <a:r>
              <a:rPr lang="en-US" sz="1550" i="1" dirty="0">
                <a:solidFill>
                  <a:srgbClr val="8B8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r>
              <a:rPr lang="en-US" sz="1550" dirty="0">
                <a:solidFill>
                  <a:srgbClr val="ED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está restringido a desplazarse sobre la parábola </a:t>
            </a:r>
            <a:r>
              <a:rPr lang="en-US" sz="1550" i="1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 = αx²</a:t>
            </a:r>
            <a:r>
              <a:rPr lang="en-US" sz="1550" dirty="0">
                <a:solidFill>
                  <a:srgbClr val="ED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contenida en un plano vertical.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822960" y="3154680"/>
            <a:ext cx="5943600" cy="3108960"/>
          </a:xfrm>
          <a:prstGeom prst="roundRect">
            <a:avLst>
              <a:gd name="adj" fmla="val 2647"/>
            </a:avLst>
          </a:prstGeom>
          <a:solidFill>
            <a:srgbClr val="1B1E29"/>
          </a:solidFill>
          <a:ln w="12700">
            <a:solidFill>
              <a:srgbClr val="2A2E3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97280" y="333756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pide: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097280" y="3749040"/>
            <a:ext cx="539496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450" dirty="0">
                <a:solidFill>
                  <a:srgbClr val="ED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Elegir un conjunto apropiado de coordenadas generalizadas.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450" dirty="0">
                <a:solidFill>
                  <a:srgbClr val="ED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Calcular las componentes de velocidad de la masa.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450" dirty="0">
                <a:solidFill>
                  <a:srgbClr val="ED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Deducir la energía cinética y la energía potencial.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450" dirty="0">
                <a:solidFill>
                  <a:srgbClr val="ED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Obtener el Lagrangiano del sistema.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7040880" y="1600200"/>
            <a:ext cx="4297680" cy="4663440"/>
          </a:xfrm>
          <a:prstGeom prst="roundRect">
            <a:avLst>
              <a:gd name="adj" fmla="val 1915"/>
            </a:avLst>
          </a:prstGeom>
          <a:solidFill>
            <a:srgbClr val="1B1E29"/>
          </a:solidFill>
          <a:ln w="12700">
            <a:solidFill>
              <a:srgbClr val="2A2E3D"/>
            </a:solidFill>
            <a:prstDash val="solid"/>
          </a:ln>
        </p:spPr>
      </p:sp>
      <p:pic>
        <p:nvPicPr>
          <p:cNvPr id="9" name="Image 0" descr="diagr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8040" y="1737360"/>
            <a:ext cx="4023360" cy="342900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7269480" y="52578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7A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Coordenadas generalizadas:  </a:t>
            </a:r>
            <a:r>
              <a:rPr lang="en-US" sz="1300" b="1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x, θ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7269480" y="566928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A7A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 del diagrama: Goldstein (2000), p. 364</a:t>
            </a:r>
            <a:endParaRPr lang="en-US" sz="1050" dirty="0"/>
          </a:p>
        </p:txBody>
      </p:sp>
      <p:sp>
        <p:nvSpPr>
          <p:cNvPr id="12" name="Text 9"/>
          <p:cNvSpPr txBox="1"/>
          <p:nvPr/>
        </p:nvSpPr>
        <p:spPr>
          <a:xfrm>
            <a:off x="1133856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7A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6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CINEMÁTICA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7772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DEE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Posición y energía cinética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600200"/>
            <a:ext cx="4846320" cy="4617720"/>
          </a:xfrm>
          <a:prstGeom prst="roundRect">
            <a:avLst>
              <a:gd name="adj" fmla="val 1782"/>
            </a:avLst>
          </a:prstGeom>
          <a:solidFill>
            <a:srgbClr val="1B1E29"/>
          </a:solidFill>
          <a:ln w="12700">
            <a:solidFill>
              <a:srgbClr val="2A2E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51560" y="178308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Componentes de posición de la masa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051560" y="2148840"/>
            <a:ext cx="4480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800"/>
              </a:spcAft>
              <a:buNone/>
            </a:pPr>
            <a:r>
              <a:rPr lang="en-US" sz="1500" dirty="0">
                <a:solidFill>
                  <a:srgbClr val="EDE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X(t) = x(t) + l sinθ(t)</a:t>
            </a:r>
            <a:endParaRPr lang="en-US" sz="15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500" dirty="0">
                <a:solidFill>
                  <a:srgbClr val="EDE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Z(t) = αx(t)² − l cosθ(t)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051560" y="306324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Energía cinética  T = ½m(Ẋ² + ż²)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51560" y="3401568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A7A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Sustituyendo v = ẋ, ω = θ̇ y simplificando: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1051560" y="3794760"/>
            <a:ext cx="4343400" cy="1417320"/>
          </a:xfrm>
          <a:prstGeom prst="roundRect">
            <a:avLst>
              <a:gd name="adj" fmla="val 3871"/>
            </a:avLst>
          </a:prstGeom>
          <a:solidFill>
            <a:srgbClr val="10121A"/>
          </a:solidFill>
          <a:ln w="12700">
            <a:solidFill>
              <a:srgbClr val="2A2E3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234440" y="3931920"/>
            <a:ext cx="4023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4FD1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 = </a:t>
            </a:r>
            <a:r>
              <a:rPr lang="en-US" sz="1450" i="1" dirty="0">
                <a:solidFill>
                  <a:srgbClr val="4FD1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</a:t>
            </a:r>
            <a:r>
              <a:rPr lang="en-US" sz="1450" dirty="0">
                <a:solidFill>
                  <a:srgbClr val="4FD1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/2 [ v²(1+4α²x²) + l²ω²</a:t>
            </a: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4FD1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+ 2lvω(cosθ + 2αx sinθ) ]</a:t>
            </a:r>
            <a:endParaRPr lang="en-US" sz="145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5394960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7A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x, θ : coordenadas generalizadas    ·    v = ẋ, ω = θ̇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943600" y="1600200"/>
            <a:ext cx="5394960" cy="4617720"/>
          </a:xfrm>
          <a:prstGeom prst="roundRect">
            <a:avLst>
              <a:gd name="adj" fmla="val 1782"/>
            </a:avLst>
          </a:prstGeom>
          <a:solidFill>
            <a:srgbClr val="1B1E29"/>
          </a:solidFill>
          <a:ln w="12700">
            <a:solidFill>
              <a:srgbClr val="2A2E3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172200" y="178308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Cálculo simbólico en Mathematica</a:t>
            </a:r>
            <a:endParaRPr lang="en-US" sz="1200" dirty="0"/>
          </a:p>
        </p:txBody>
      </p:sp>
      <p:pic>
        <p:nvPicPr>
          <p:cNvPr id="14" name="Image 0" descr="1788466607549_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2103120"/>
            <a:ext cx="5029200" cy="2809037"/>
          </a:xfrm>
          <a:prstGeom prst="rect">
            <a:avLst/>
          </a:prstGeom>
        </p:spPr>
      </p:pic>
      <p:sp>
        <p:nvSpPr>
          <p:cNvPr id="15" name="Text 12"/>
          <p:cNvSpPr txBox="1"/>
          <p:nvPr/>
        </p:nvSpPr>
        <p:spPr>
          <a:xfrm>
            <a:off x="6172200" y="5029200"/>
            <a:ext cx="4937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A7A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código define X(t), Z(t), calcula T con Expand y sustituye θ̇→ω, ẋ→v con FullSimplify.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1133856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7A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6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FUNCIÓN DE LAGRANGE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7772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DEE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Lagrangiano del sistema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600200"/>
            <a:ext cx="4846320" cy="4617720"/>
          </a:xfrm>
          <a:prstGeom prst="roundRect">
            <a:avLst>
              <a:gd name="adj" fmla="val 1782"/>
            </a:avLst>
          </a:prstGeom>
          <a:solidFill>
            <a:srgbClr val="1B1E29"/>
          </a:solidFill>
          <a:ln w="12700">
            <a:solidFill>
              <a:srgbClr val="2A2E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51560" y="178308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Energía potencial gravitatoria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051560" y="214884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DE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 = mg(αx² − l cosθ)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051560" y="278892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Lagrangiano  L = T − V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051560" y="3154680"/>
            <a:ext cx="4343400" cy="1874520"/>
          </a:xfrm>
          <a:prstGeom prst="roundRect">
            <a:avLst>
              <a:gd name="adj" fmla="val 2927"/>
            </a:avLst>
          </a:prstGeom>
          <a:solidFill>
            <a:srgbClr val="10121A"/>
          </a:solidFill>
          <a:ln w="12700">
            <a:solidFill>
              <a:srgbClr val="2A2E3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234440" y="3291840"/>
            <a:ext cx="40233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4FD1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 = m/2 [ v²(1+4α²x²) + l²ω²</a:t>
            </a: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4FD1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+ 2lvω(cosθ + 2αx sinθ) ]</a:t>
            </a: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4FD1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− mg(αx² − l cosθ)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1051560" y="5212080"/>
            <a:ext cx="4480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i="1" dirty="0">
                <a:solidFill>
                  <a:srgbClr val="A7A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Coincide con la ecuación (1) del enunciado, tras identificar q = (x, θ) y sus velocidades generalizadas v, ω.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943600" y="1600200"/>
            <a:ext cx="5394960" cy="4617720"/>
          </a:xfrm>
          <a:prstGeom prst="roundRect">
            <a:avLst>
              <a:gd name="adj" fmla="val 1782"/>
            </a:avLst>
          </a:prstGeom>
          <a:solidFill>
            <a:srgbClr val="1B1E29"/>
          </a:solidFill>
          <a:ln w="12700">
            <a:solidFill>
              <a:srgbClr val="2A2E3D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172200" y="178308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Cálculo simbólico en Mathematica</a:t>
            </a:r>
            <a:endParaRPr lang="en-US" sz="1200" dirty="0"/>
          </a:p>
        </p:txBody>
      </p:sp>
      <p:pic>
        <p:nvPicPr>
          <p:cNvPr id="13" name="Image 0" descr="1788466706659_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2148840"/>
            <a:ext cx="5029200" cy="2168957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6172200" y="4434840"/>
            <a:ext cx="49377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A7A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SetAttributes fija l, m, g, α como constantes; L[x_,θ_,v_,ω_] queda definida como función pura para usarla en las derivadas de Euler–Lagrange.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1133856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7A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6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DINÁMICA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777240"/>
            <a:ext cx="9144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DEE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Ecuaciones de Euler–Lagrange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41732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A7A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cada coordenada generalizada  </a:t>
            </a:r>
            <a:r>
              <a:rPr lang="en-US" sz="1450" i="1" dirty="0">
                <a:solidFill>
                  <a:srgbClr val="8B8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qi = (x, θ)</a:t>
            </a:r>
            <a:r>
              <a:rPr lang="en-US" sz="1450" dirty="0">
                <a:solidFill>
                  <a:srgbClr val="ED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se aplica:   d/dt(∂L/∂q̇i) − ∂L/∂qi = 0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822960" y="1965960"/>
            <a:ext cx="10515600" cy="4251960"/>
          </a:xfrm>
          <a:prstGeom prst="roundRect">
            <a:avLst>
              <a:gd name="adj" fmla="val 1935"/>
            </a:avLst>
          </a:prstGeom>
          <a:solidFill>
            <a:srgbClr val="1B1E29"/>
          </a:solidFill>
          <a:ln w="12700">
            <a:solidFill>
              <a:srgbClr val="2A2E3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51560" y="21488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Salida de Mathematica (derivación, sustitución ẋ→v, θ̇→ω, y FullSimplify)</a:t>
            </a:r>
            <a:endParaRPr lang="en-US" sz="1200" dirty="0"/>
          </a:p>
        </p:txBody>
      </p:sp>
      <p:pic>
        <p:nvPicPr>
          <p:cNvPr id="7" name="Image 0" descr="1788466747367_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3120" y="2514600"/>
            <a:ext cx="7955280" cy="3653028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133856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7A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16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777240"/>
            <a:ext cx="10241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EDEE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Forma explícita de las ecuaciones de movimiento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4173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A7A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Resolviendo el sistema Ecu1 = 0, Ecu2 = 0 para v̇ y ω̇ con Solve: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822960" y="1965960"/>
            <a:ext cx="10515600" cy="1691640"/>
          </a:xfrm>
          <a:prstGeom prst="roundRect">
            <a:avLst>
              <a:gd name="adj" fmla="val 4865"/>
            </a:avLst>
          </a:prstGeom>
          <a:solidFill>
            <a:srgbClr val="1B1E29"/>
          </a:solidFill>
          <a:ln w="12700">
            <a:solidFill>
              <a:srgbClr val="2A2E3D"/>
            </a:solidFill>
            <a:prstDash val="solid"/>
          </a:ln>
        </p:spPr>
      </p:sp>
      <p:pic>
        <p:nvPicPr>
          <p:cNvPr id="6" name="Image 0" descr="1788466764301_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2148840"/>
            <a:ext cx="10058400" cy="132679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22960" y="3886200"/>
            <a:ext cx="10515600" cy="2331720"/>
          </a:xfrm>
          <a:prstGeom prst="roundRect">
            <a:avLst>
              <a:gd name="adj" fmla="val 3529"/>
            </a:avLst>
          </a:prstGeom>
          <a:solidFill>
            <a:srgbClr val="1B1E29"/>
          </a:solidFill>
          <a:ln w="12700">
            <a:solidFill>
              <a:srgbClr val="2A2E3D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1097280" y="40690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Consistencia con el enunciado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1097280" y="4434840"/>
            <a:ext cx="10058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spcAft>
                <a:spcPts val="1000"/>
              </a:spcAft>
              <a:buNone/>
            </a:pPr>
            <a:r>
              <a:rPr lang="en-US" sz="1300" dirty="0">
                <a:solidFill>
                  <a:srgbClr val="ED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resultado computado reproduce, salvo reordenamiento algebraico y signo por convención de despeje, el sistema (2) del enunciado: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4FD1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ω̇ = [ g + 2αv² + lω²(cosθ + 2αx sinθ) ] / [ l(2αx cosθ − sinθ) ]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4FD1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v̇ = −[ lω² + (g + 2αv²)cosθ ] / (2αx cosθ − sinθ)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1133856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7A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6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377440" y="-2377440"/>
            <a:ext cx="5486400" cy="5486400"/>
          </a:xfrm>
          <a:prstGeom prst="ellipse">
            <a:avLst/>
          </a:prstGeom>
          <a:solidFill>
            <a:srgbClr val="1C233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8229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CONCLUSIÓN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114300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DEE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 código simbólico al resultado físico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22960" y="2148840"/>
            <a:ext cx="3319272" cy="2377440"/>
          </a:xfrm>
          <a:prstGeom prst="roundRect">
            <a:avLst>
              <a:gd name="adj" fmla="val 3462"/>
            </a:avLst>
          </a:prstGeom>
          <a:solidFill>
            <a:srgbClr val="1B1E29"/>
          </a:solidFill>
          <a:ln w="12700">
            <a:solidFill>
              <a:srgbClr val="2A2E3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51560" y="2377440"/>
            <a:ext cx="411480" cy="411480"/>
          </a:xfrm>
          <a:prstGeom prst="ellipse">
            <a:avLst/>
          </a:prstGeom>
          <a:solidFill>
            <a:srgbClr val="10121A"/>
          </a:solidFill>
          <a:ln w="19050">
            <a:solidFill>
              <a:srgbClr val="4FD1C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51560" y="23774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078992" y="2926080"/>
            <a:ext cx="2807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DEE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Cinemática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078992" y="3337560"/>
            <a:ext cx="280720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A7A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definieron X(t) y Z(t) para la masa restringida a la parábola, obteniendo T por sustitución directa.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416552" y="2148840"/>
            <a:ext cx="3319272" cy="2377440"/>
          </a:xfrm>
          <a:prstGeom prst="roundRect">
            <a:avLst>
              <a:gd name="adj" fmla="val 3462"/>
            </a:avLst>
          </a:prstGeom>
          <a:solidFill>
            <a:srgbClr val="1B1E29"/>
          </a:solidFill>
          <a:ln w="12700">
            <a:solidFill>
              <a:srgbClr val="2A2E3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45152" y="2377440"/>
            <a:ext cx="411480" cy="411480"/>
          </a:xfrm>
          <a:prstGeom prst="ellipse">
            <a:avLst/>
          </a:prstGeom>
          <a:solidFill>
            <a:srgbClr val="10121A"/>
          </a:solidFill>
          <a:ln w="19050">
            <a:solidFill>
              <a:srgbClr val="4FD1C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645152" y="23774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4672584" y="2926080"/>
            <a:ext cx="2807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DEE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Lagrangiano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4672584" y="3337560"/>
            <a:ext cx="280720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A7A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 − V produjo L(x,θ,v,ω), coincidente con la ecuación (1) del enunciado.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010144" y="2148840"/>
            <a:ext cx="3319272" cy="2377440"/>
          </a:xfrm>
          <a:prstGeom prst="roundRect">
            <a:avLst>
              <a:gd name="adj" fmla="val 3462"/>
            </a:avLst>
          </a:prstGeom>
          <a:solidFill>
            <a:srgbClr val="1B1E29"/>
          </a:solidFill>
          <a:ln w="12700">
            <a:solidFill>
              <a:srgbClr val="2A2E3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38744" y="2377440"/>
            <a:ext cx="411480" cy="411480"/>
          </a:xfrm>
          <a:prstGeom prst="ellipse">
            <a:avLst/>
          </a:prstGeom>
          <a:solidFill>
            <a:srgbClr val="10121A"/>
          </a:solidFill>
          <a:ln w="19050">
            <a:solidFill>
              <a:srgbClr val="4FD1C5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238744" y="23774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8266176" y="2926080"/>
            <a:ext cx="2807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DEE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Movimiento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8266176" y="3337560"/>
            <a:ext cx="280720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A7A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operador de Euler–Lagrange y Solve entregaron v̇ y ω̇ en forma cerrada, consistentes con la ecuación (2).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22960" y="4892040"/>
            <a:ext cx="10515600" cy="1325880"/>
          </a:xfrm>
          <a:prstGeom prst="roundRect">
            <a:avLst>
              <a:gd name="adj" fmla="val 6207"/>
            </a:avLst>
          </a:prstGeom>
          <a:solidFill>
            <a:srgbClr val="1B1E29"/>
          </a:solidFill>
          <a:ln w="12700">
            <a:solidFill>
              <a:srgbClr val="2A2E3D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097280" y="504748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 y referencias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1097280" y="5376672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D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el álgebra (Expand, FullSimplify, Solve) se realizó en Wolfram Mathematica.  </a:t>
            </a:r>
            <a:r>
              <a:rPr lang="en-US" sz="1250" dirty="0">
                <a:solidFill>
                  <a:srgbClr val="A7A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Referencia del diagrama y la forma comparativa del Lagrangiano: </a:t>
            </a:r>
            <a:r>
              <a:rPr lang="en-US" sz="1250" i="1" dirty="0">
                <a:solidFill>
                  <a:srgbClr val="A7A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Goldstein, Poole &amp; Safko (2002), Classical Mechanics.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1133856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7A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694</Words>
  <Application>Microsoft Office PowerPoint</Application>
  <PresentationFormat>Panorámica</PresentationFormat>
  <Paragraphs>80</Paragraphs>
  <Slides>7</Slides>
  <Notes>7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2" baseType="lpstr">
      <vt:lpstr>Arial</vt:lpstr>
      <vt:lpstr>Calibri</vt:lpstr>
      <vt:lpstr>Cambria</vt:lpstr>
      <vt:lpstr>Consolas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Personal</cp:lastModifiedBy>
  <cp:revision>2</cp:revision>
  <dcterms:created xsi:type="dcterms:W3CDTF">2026-09-03T21:06:57Z</dcterms:created>
  <dcterms:modified xsi:type="dcterms:W3CDTF">2026-09-03T21:15:55Z</dcterms:modified>
</cp:coreProperties>
</file>